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Classification of Coupling in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Data, Stamp, Control, Common, and Content Coupling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Coupling?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Coupling indicates the degree of interdependence between two modules.</a:t>
            </a:r>
          </a:p>
          <a:p>
            <a:pPr marL="0" indent="0">
              <a:buNone/>
            </a:pPr>
            <a:r>
              <a:rPr dirty="0"/>
              <a:t>• High coupling means modules are heavily interdependent.</a:t>
            </a:r>
          </a:p>
          <a:p>
            <a:pPr marL="0" indent="0">
              <a:buNone/>
            </a:pPr>
            <a:r>
              <a:rPr dirty="0"/>
              <a:t>• Determined by interface complexity:</a:t>
            </a:r>
          </a:p>
          <a:p>
            <a:pPr marL="0" indent="0">
              <a:buNone/>
            </a:pPr>
            <a:r>
              <a:rPr dirty="0"/>
              <a:t>   – Number of parameters passed</a:t>
            </a:r>
          </a:p>
          <a:p>
            <a:pPr marL="0" indent="0">
              <a:buNone/>
            </a:pPr>
            <a:r>
              <a:rPr dirty="0"/>
              <a:t>   – Complexity of parameters</a:t>
            </a:r>
          </a:p>
          <a:p>
            <a:pPr marL="0" indent="0">
              <a:buNone/>
            </a:pPr>
            <a:r>
              <a:rPr dirty="0"/>
              <a:t>• High coupling → harder to understand, maintain, and develop independently.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F30431-CAEF-FF0B-5F21-50C99F3D2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542" y="2144486"/>
            <a:ext cx="6662058" cy="255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0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Two modules communicate by passing elementary data items (int, float, char).</a:t>
            </a:r>
          </a:p>
          <a:p>
            <a:pPr marL="0" indent="0">
              <a:buNone/>
            </a:pPr>
            <a:r>
              <a:rPr dirty="0"/>
              <a:t>• Data must be problem-related, not control-related.</a:t>
            </a:r>
          </a:p>
          <a:p>
            <a:pPr marL="0" indent="0">
              <a:buNone/>
            </a:pPr>
            <a:r>
              <a:rPr dirty="0"/>
              <a:t>• Example: A function passing an integer value as a parameter.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Stamp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Two modules communicate using composite data items.</a:t>
            </a:r>
          </a:p>
          <a:p>
            <a:pPr marL="0" indent="0">
              <a:buNone/>
            </a:pPr>
            <a:r>
              <a:rPr dirty="0"/>
              <a:t>• Example: Records (Pascal) or Structures (C).</a:t>
            </a:r>
          </a:p>
          <a:p>
            <a:pPr marL="0" indent="0">
              <a:buNone/>
            </a:pPr>
            <a:r>
              <a:rPr dirty="0"/>
              <a:t>• More complex than data coupling.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One module controls the execution of another via passed data.</a:t>
            </a:r>
          </a:p>
          <a:p>
            <a:pPr marL="0" indent="0">
              <a:buNone/>
            </a:pPr>
            <a:r>
              <a:rPr dirty="0"/>
              <a:t>• Example: A flag set in one module and tested in another.</a:t>
            </a:r>
          </a:p>
          <a:p>
            <a:pPr marL="0" indent="0">
              <a:buNone/>
            </a:pPr>
            <a:r>
              <a:rPr dirty="0"/>
              <a:t>• Leads to tighter interdependence.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Two or more modules share global data.</a:t>
            </a:r>
          </a:p>
          <a:p>
            <a:pPr marL="0" indent="0">
              <a:buNone/>
            </a:pPr>
            <a:r>
              <a:rPr dirty="0"/>
              <a:t>• High risk of unintended side effects.</a:t>
            </a:r>
          </a:p>
          <a:p>
            <a:pPr marL="0" indent="0">
              <a:buNone/>
            </a:pPr>
            <a:r>
              <a:rPr dirty="0"/>
              <a:t>• Makes debugging and maintenance harder.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Coupling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One module directly uses or modifies code of another.</a:t>
            </a:r>
          </a:p>
          <a:p>
            <a:pPr marL="0" indent="0">
              <a:buNone/>
            </a:pPr>
            <a:r>
              <a:rPr dirty="0"/>
              <a:t>• Example: Jumps into another module’s code.</a:t>
            </a:r>
          </a:p>
          <a:p>
            <a:pPr marL="0" indent="0">
              <a:buNone/>
            </a:pPr>
            <a:r>
              <a:rPr dirty="0"/>
              <a:t>• Not supported in modern high-level languages (e.g., C).</a:t>
            </a:r>
          </a:p>
          <a:p>
            <a:pPr marL="0" indent="0">
              <a:buNone/>
            </a:pPr>
            <a:r>
              <a:rPr dirty="0"/>
              <a:t>• Highest degree of coupling, most undesirable.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Coupling Severity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From least to most severe:</a:t>
            </a:r>
          </a:p>
          <a:p>
            <a:pPr marL="0" indent="0">
              <a:buNone/>
            </a:pPr>
            <a:r>
              <a:rPr dirty="0"/>
              <a:t>   1. Data Coupling</a:t>
            </a:r>
          </a:p>
          <a:p>
            <a:pPr marL="0" indent="0">
              <a:buNone/>
            </a:pPr>
            <a:r>
              <a:rPr dirty="0"/>
              <a:t>   2. Stamp Coupling</a:t>
            </a:r>
          </a:p>
          <a:p>
            <a:pPr marL="0" indent="0">
              <a:buNone/>
            </a:pPr>
            <a:r>
              <a:rPr dirty="0"/>
              <a:t>   3. Control Coupling</a:t>
            </a:r>
          </a:p>
          <a:p>
            <a:pPr marL="0" indent="0">
              <a:buNone/>
            </a:pPr>
            <a:r>
              <a:rPr dirty="0"/>
              <a:t>   4. Common Coupling</a:t>
            </a:r>
          </a:p>
          <a:p>
            <a:pPr marL="0" indent="0">
              <a:buNone/>
            </a:pPr>
            <a:r>
              <a:rPr dirty="0"/>
              <a:t>   5. Content Coupling</a:t>
            </a:r>
          </a:p>
          <a:p>
            <a:endParaRPr dirty="0"/>
          </a:p>
          <a:p>
            <a:r>
              <a:t>Higher </a:t>
            </a:r>
            <a:r>
              <a:rPr dirty="0"/>
              <a:t>coupling → Higher complexity and maintenance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39850E187D4D49ADD6CC626F9E02B9" ma:contentTypeVersion="15" ma:contentTypeDescription="Create a new document." ma:contentTypeScope="" ma:versionID="a31326867ac25f17c082c0a9bbe19ae8">
  <xsd:schema xmlns:xsd="http://www.w3.org/2001/XMLSchema" xmlns:xs="http://www.w3.org/2001/XMLSchema" xmlns:p="http://schemas.microsoft.com/office/2006/metadata/properties" xmlns:ns2="076eaabc-6207-4f06-a046-abef76fef369" xmlns:ns3="f832fd20-1de0-4ed0-bb8d-5633808be6eb" targetNamespace="http://schemas.microsoft.com/office/2006/metadata/properties" ma:root="true" ma:fieldsID="01a34bf38ce5d3d9a93103047fcf3b42" ns2:_="" ns3:_="">
    <xsd:import namespace="076eaabc-6207-4f06-a046-abef76fef369"/>
    <xsd:import namespace="f832fd20-1de0-4ed0-bb8d-5633808be6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DateModifi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6eaabc-6207-4f06-a046-abef76fef3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ca7166d-de03-4c3e-865e-07adad3d8b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DateModified" ma:index="20" nillable="true" ma:displayName="Date Modified" ma:default="[today]" ma:format="DateTime" ma:internalName="DateModifi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32fd20-1de0-4ed0-bb8d-5633808be6e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8955a9-9c66-401d-8215-171e9fa95559}" ma:internalName="TaxCatchAll" ma:showField="CatchAllData" ma:web="f832fd20-1de0-4ed0-bb8d-5633808be6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Modified xmlns="076eaabc-6207-4f06-a046-abef76fef369">2025-11-02T09:37:34+00:00</DateModified>
    <lcf76f155ced4ddcb4097134ff3c332f xmlns="076eaabc-6207-4f06-a046-abef76fef369">
      <Terms xmlns="http://schemas.microsoft.com/office/infopath/2007/PartnerControls"/>
    </lcf76f155ced4ddcb4097134ff3c332f>
    <TaxCatchAll xmlns="f832fd20-1de0-4ed0-bb8d-5633808be6eb" xsi:nil="true"/>
  </documentManagement>
</p:properties>
</file>

<file path=customXml/itemProps1.xml><?xml version="1.0" encoding="utf-8"?>
<ds:datastoreItem xmlns:ds="http://schemas.openxmlformats.org/officeDocument/2006/customXml" ds:itemID="{D07E559C-5E6F-492F-BF76-AA3A9F0D293F}"/>
</file>

<file path=customXml/itemProps2.xml><?xml version="1.0" encoding="utf-8"?>
<ds:datastoreItem xmlns:ds="http://schemas.openxmlformats.org/officeDocument/2006/customXml" ds:itemID="{76BE993E-2574-4138-9057-D6B837D3DBA8}"/>
</file>

<file path=customXml/itemProps3.xml><?xml version="1.0" encoding="utf-8"?>
<ds:datastoreItem xmlns:ds="http://schemas.openxmlformats.org/officeDocument/2006/customXml" ds:itemID="{91DDDD1F-5808-4F6F-8946-D82978A9A238}"/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291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Classification of Coupling in Software Engineering</vt:lpstr>
      <vt:lpstr>What is Coupling?</vt:lpstr>
      <vt:lpstr>PowerPoint Presentation</vt:lpstr>
      <vt:lpstr>Data Coupling</vt:lpstr>
      <vt:lpstr>Stamp Coupling</vt:lpstr>
      <vt:lpstr>Control Coupling</vt:lpstr>
      <vt:lpstr>Common Coupling</vt:lpstr>
      <vt:lpstr>Content Coupling</vt:lpstr>
      <vt:lpstr>Coupling Severity Order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Ashwitha A [MAHE-MITBLR]</cp:lastModifiedBy>
  <cp:revision>4</cp:revision>
  <dcterms:created xsi:type="dcterms:W3CDTF">2013-01-27T09:14:16Z</dcterms:created>
  <dcterms:modified xsi:type="dcterms:W3CDTF">2025-10-09T09:12:44Z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0x0101001639850E187D4D49ADD6CC626F9E02B9</vt:lpwstr>
  </property>
</Properties>
</file>